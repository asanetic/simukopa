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(L)</c:v>
                </c:pt>
              </c:strCache>
            </c:strRef>
          </c:tx>
          <c:spPr>
            <a:solidFill>
              <a:srgbClr val="CFE0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3100</c:v>
                </c:pt>
                <c:pt idx="1">
                  <c:v>3250</c:v>
                </c:pt>
                <c:pt idx="2">
                  <c:v>2980</c:v>
                </c:pt>
                <c:pt idx="3">
                  <c:v>3400</c:v>
                </c:pt>
                <c:pt idx="4">
                  <c:v>3150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(L)</c:v>
                </c:pt>
              </c:strCache>
            </c:strRef>
          </c:tx>
          <c:spPr>
            <a:solidFill>
              <a:srgbClr val="F2661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3040</c:v>
                </c:pt>
                <c:pt idx="1">
                  <c:v>3210</c:v>
                </c:pt>
                <c:pt idx="2">
                  <c:v>2870</c:v>
                </c:pt>
                <c:pt idx="3">
                  <c:v>3390</c:v>
                </c:pt>
                <c:pt idx="4">
                  <c:v>3070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FE0E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E3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CFE0E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CFE0E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F34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SURDS LIMITED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OCTANE OBIT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forecourt management system that turns every litre, shilling and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into a number you can trust — in real time.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STATIONS IN KENYA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AUTOMATED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98080" y="39776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$29.9M · €25.6M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0" y="4526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SHRINKAGE YEARLY*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98080" y="4864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3.87B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886200"/>
            <a:ext cx="987552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*Across a 5,000-station addressable base, at ~300L/station/month, KES 215/L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Fuel retailers are losing money they can't see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Kenyan forecourts still run on paper delivery notes, disconnected spreadsheets and after-the-fact bank statements. By the time a shortfall is visible, the fuel, the cash, or the person responsible is long gone.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5877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sales &amp; stock records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readings, dry-stock counts and delivery notes are logged by hand — easy to miss, easy to alter.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233172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606040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5877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theft goes undetected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92240" y="32004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 skimming and unlogged dispensing surface weeks later, if at all — with no audit trail back to a shift.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709160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4690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M-Pesa, KRA eTIMS &amp; bank never reconcile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money, fiscal receipts and bank deposits are recorded in three different places that never automatically match.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43484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4709160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46908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readings can be tampered with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53035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and tank meters can be manipulated with no independent cross-check against what was actually delivered or sold.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Octane Obit: one platform, every forecourt module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downstream fuel operations system — delivery to depot, tank to pump, sale to bank — continuously validated so nothing waits for month-end to be discovered.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702052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3591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 Wet Stock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2670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PO/flow-meter-verified deliveries, live tank levels via ATG probes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126480" y="22860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2702052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359152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Tank-Level Variance Alerts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0" y="2670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expected-vs-actual volume checks — flags loss the moment it happens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410712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" y="3826764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48386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Forecourt &amp; Pump Control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nozzle tracked as an accountable asset; calibration drift flagged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3410712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3826764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3483864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379476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dry-stock, LPG &amp; rental income captured in one till, one shift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535424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22" name="Shape 20"/>
          <p:cNvSpPr/>
          <p:nvPr/>
        </p:nvSpPr>
        <p:spPr>
          <a:xfrm>
            <a:off x="841248" y="4951476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60857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 eTIMS Fiscalization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7280" y="49194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fiscalized automatically — no separate reconciliation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26480" y="4535424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26" name="Shape 24"/>
          <p:cNvSpPr/>
          <p:nvPr/>
        </p:nvSpPr>
        <p:spPr>
          <a:xfrm>
            <a:off x="6327648" y="4951476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4608576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Engine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583680" y="4919472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 across delivery, tank, pump, sale, cash &amp; bank — live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5660136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" y="6076188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57332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Accountability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97280" y="604418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Open-to-close reconciliation per attendant; closure blocked until it balances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26480" y="5660136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0F3454"/>
          </a:solidFill>
          <a:ln/>
        </p:spPr>
      </p:sp>
      <p:sp>
        <p:nvSpPr>
          <p:cNvPr id="34" name="Shape 32"/>
          <p:cNvSpPr/>
          <p:nvPr/>
        </p:nvSpPr>
        <p:spPr>
          <a:xfrm>
            <a:off x="6327648" y="6076188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57332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Reporting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583680" y="6044184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Station, branch or company-wide dashboards sliced by shift, grade or period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operational thread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feeds the same reconciliation engine — nothing sits in a silo, and nothing waits for someone to notice.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9868" y="2587752"/>
            <a:ext cx="512064" cy="512064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7" name="Text 5"/>
          <p:cNvSpPr/>
          <p:nvPr/>
        </p:nvSpPr>
        <p:spPr>
          <a:xfrm>
            <a:off x="1229868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&amp; flow-meter validated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70455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83510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73298" y="2587752"/>
            <a:ext cx="512064" cy="512064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3" name="Text 11"/>
          <p:cNvSpPr/>
          <p:nvPr/>
        </p:nvSpPr>
        <p:spPr>
          <a:xfrm>
            <a:off x="3073298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74950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Stock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0670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ATG tank levels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388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26941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6729" y="2587752"/>
            <a:ext cx="512064" cy="512064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19" name="Text 17"/>
          <p:cNvSpPr/>
          <p:nvPr/>
        </p:nvSpPr>
        <p:spPr>
          <a:xfrm>
            <a:off x="4916729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18381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Forecourt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64101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&amp; nozzles logged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5731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70371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0159" y="2587752"/>
            <a:ext cx="512064" cy="512064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25" name="Text 23"/>
          <p:cNvSpPr/>
          <p:nvPr/>
        </p:nvSpPr>
        <p:spPr>
          <a:xfrm>
            <a:off x="6760159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1811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7531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Fuel, retail, LPG, rental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00746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13802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2661F"/>
          </a:solidFill>
          <a:ln w="12700">
            <a:solidFill>
              <a:srgbClr val="F2661F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603590" y="25877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603590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05242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50962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vs. actual, live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644177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57232" y="233172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0447020" y="2587752"/>
            <a:ext cx="512064" cy="512064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447020" y="25877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948672" y="32461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994392" y="365760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alerts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spreadsheet guess to a live variance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943600" cy="4846320"/>
          </a:xfrm>
          <a:prstGeom prst="roundRect">
            <a:avLst>
              <a:gd name="adj" fmla="val 1509"/>
            </a:avLst>
          </a:prstGeom>
          <a:solidFill>
            <a:srgbClr val="0B2A45"/>
          </a:solidFill>
          <a:ln/>
          <a:effectLst>
            <a:outerShdw sx="100000" sy="100000" kx="0" ky="0" algn="bl" rotWithShape="0" blurRad="127000" dist="38100" dir="5400000">
              <a:srgbClr val="1B2A3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184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DASHBOARD  ·  MAIN FORECOURT  ·  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Volume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18,400 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43200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Dispensed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18,112 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0" y="2075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331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-288 L (1.6%)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834640"/>
            <a:ext cx="539496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914400" y="2971800"/>
          <a:ext cx="539496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914400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EXCEPTIONS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914400" y="4837176"/>
            <a:ext cx="82296" cy="8229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4782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3 — dispensed, no sale logged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846320" y="478231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-142 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914400" y="5129784"/>
            <a:ext cx="82296" cy="8229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9" name="Text 16"/>
          <p:cNvSpPr/>
          <p:nvPr/>
        </p:nvSpPr>
        <p:spPr>
          <a:xfrm>
            <a:off x="1143000" y="5074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2 — overnight drop, no delivery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846320" y="5074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-96 L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14400" y="5422392"/>
            <a:ext cx="82296" cy="8229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" y="536752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PM/Tue — cash short vs. till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46320" y="53675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-3,200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4400" y="57515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going live at our pilot merchant station, every one of these is caught in the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it happens in — not discovered weeks later at month-end.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0372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vs. OCTANE OBIT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903720" y="1801368"/>
            <a:ext cx="4663440" cy="384048"/>
          </a:xfrm>
          <a:prstGeom prst="roundRect">
            <a:avLst>
              <a:gd name="adj" fmla="val 9524"/>
            </a:avLst>
          </a:prstGeom>
          <a:solidFill>
            <a:srgbClr val="0B2A45"/>
          </a:solidFill>
          <a:ln/>
        </p:spPr>
      </p:sp>
      <p:sp>
        <p:nvSpPr>
          <p:cNvPr id="27" name="Text 24"/>
          <p:cNvSpPr/>
          <p:nvPr/>
        </p:nvSpPr>
        <p:spPr>
          <a:xfrm>
            <a:off x="6903720" y="1801368"/>
            <a:ext cx="195864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8862365" y="1801368"/>
            <a:ext cx="1352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0214762" y="1801368"/>
            <a:ext cx="13523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6903720" y="2185416"/>
            <a:ext cx="4663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8"/>
          <p:cNvSpPr/>
          <p:nvPr/>
        </p:nvSpPr>
        <p:spPr>
          <a:xfrm>
            <a:off x="6995160" y="2185416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is a loss caught?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8862365" y="2185416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Month-end, if at all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10214762" y="2185416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shift, in real time</a:t>
            </a:r>
            <a:endParaRPr lang="en-US" sz="870" dirty="0"/>
          </a:p>
        </p:txBody>
      </p:sp>
      <p:sp>
        <p:nvSpPr>
          <p:cNvPr id="34" name="Text 31"/>
          <p:cNvSpPr/>
          <p:nvPr/>
        </p:nvSpPr>
        <p:spPr>
          <a:xfrm>
            <a:off x="6995160" y="2660904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reconciles it?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862365" y="2660904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by hand</a:t>
            </a:r>
            <a:endParaRPr lang="en-US" sz="870" dirty="0"/>
          </a:p>
        </p:txBody>
      </p:sp>
      <p:sp>
        <p:nvSpPr>
          <p:cNvPr id="36" name="Text 33"/>
          <p:cNvSpPr/>
          <p:nvPr/>
        </p:nvSpPr>
        <p:spPr>
          <a:xfrm>
            <a:off x="10214762" y="2660904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engine, automatically</a:t>
            </a:r>
            <a:endParaRPr lang="en-US" sz="870" dirty="0"/>
          </a:p>
        </p:txBody>
      </p:sp>
      <p:sp>
        <p:nvSpPr>
          <p:cNvPr id="37" name="Shape 34"/>
          <p:cNvSpPr/>
          <p:nvPr/>
        </p:nvSpPr>
        <p:spPr>
          <a:xfrm>
            <a:off x="6903720" y="3136392"/>
            <a:ext cx="4663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5"/>
          <p:cNvSpPr/>
          <p:nvPr/>
        </p:nvSpPr>
        <p:spPr>
          <a:xfrm>
            <a:off x="6995160" y="3136392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/ KRA / bank match?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8862365" y="3136392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separate records</a:t>
            </a:r>
            <a:endParaRPr lang="en-US" sz="870" dirty="0"/>
          </a:p>
        </p:txBody>
      </p:sp>
      <p:sp>
        <p:nvSpPr>
          <p:cNvPr id="40" name="Text 37"/>
          <p:cNvSpPr/>
          <p:nvPr/>
        </p:nvSpPr>
        <p:spPr>
          <a:xfrm>
            <a:off x="10214762" y="3136392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validated record</a:t>
            </a:r>
            <a:endParaRPr lang="en-US" sz="870" dirty="0"/>
          </a:p>
        </p:txBody>
      </p:sp>
      <p:sp>
        <p:nvSpPr>
          <p:cNvPr id="41" name="Text 38"/>
          <p:cNvSpPr/>
          <p:nvPr/>
        </p:nvSpPr>
        <p:spPr>
          <a:xfrm>
            <a:off x="6995160" y="3611880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tampering visible?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862365" y="3611880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check</a:t>
            </a:r>
            <a:endParaRPr lang="en-US" sz="870" dirty="0"/>
          </a:p>
        </p:txBody>
      </p:sp>
      <p:sp>
        <p:nvSpPr>
          <p:cNvPr id="43" name="Text 40"/>
          <p:cNvSpPr/>
          <p:nvPr/>
        </p:nvSpPr>
        <p:spPr>
          <a:xfrm>
            <a:off x="10214762" y="3611880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vs. flow-meter</a:t>
            </a:r>
            <a:endParaRPr lang="en-US" sz="870" dirty="0"/>
          </a:p>
        </p:txBody>
      </p:sp>
      <p:sp>
        <p:nvSpPr>
          <p:cNvPr id="44" name="Shape 41"/>
          <p:cNvSpPr/>
          <p:nvPr/>
        </p:nvSpPr>
        <p:spPr>
          <a:xfrm>
            <a:off x="6903720" y="4087368"/>
            <a:ext cx="466344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2"/>
          <p:cNvSpPr/>
          <p:nvPr/>
        </p:nvSpPr>
        <p:spPr>
          <a:xfrm>
            <a:off x="6995160" y="4087368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theft trail?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8862365" y="4087368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Sporadic, after the fact</a:t>
            </a:r>
            <a:endParaRPr lang="en-US" sz="870" dirty="0"/>
          </a:p>
        </p:txBody>
      </p:sp>
      <p:sp>
        <p:nvSpPr>
          <p:cNvPr id="47" name="Text 44"/>
          <p:cNvSpPr/>
          <p:nvPr/>
        </p:nvSpPr>
        <p:spPr>
          <a:xfrm>
            <a:off x="10214762" y="4087368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to shift &amp; attendant</a:t>
            </a:r>
            <a:endParaRPr lang="en-US" sz="870" dirty="0"/>
          </a:p>
        </p:txBody>
      </p:sp>
      <p:sp>
        <p:nvSpPr>
          <p:cNvPr id="48" name="Text 45"/>
          <p:cNvSpPr/>
          <p:nvPr/>
        </p:nvSpPr>
        <p:spPr>
          <a:xfrm>
            <a:off x="6995160" y="4562856"/>
            <a:ext cx="182148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trail?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8862365" y="4562856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wasn't overwritten</a:t>
            </a:r>
            <a:endParaRPr lang="en-US" sz="870" dirty="0"/>
          </a:p>
        </p:txBody>
      </p:sp>
      <p:sp>
        <p:nvSpPr>
          <p:cNvPr id="50" name="Text 47"/>
          <p:cNvSpPr/>
          <p:nvPr/>
        </p:nvSpPr>
        <p:spPr>
          <a:xfrm>
            <a:off x="10214762" y="4562856"/>
            <a:ext cx="130667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timestamped history</a:t>
            </a:r>
            <a:endParaRPr lang="en-US" sz="870" dirty="0"/>
          </a:p>
        </p:txBody>
      </p:sp>
      <p:sp>
        <p:nvSpPr>
          <p:cNvPr id="51" name="Shape 48"/>
          <p:cNvSpPr/>
          <p:nvPr/>
        </p:nvSpPr>
        <p:spPr>
          <a:xfrm>
            <a:off x="6903720" y="1801368"/>
            <a:ext cx="4663440" cy="3236976"/>
          </a:xfrm>
          <a:prstGeom prst="rect">
            <a:avLst/>
          </a:prstGeom>
          <a:ln w="12700">
            <a:solidFill>
              <a:srgbClr val="E4E9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Huge, ready, and almost entirely un-automated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STATIONS IN KENYA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66344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AUTOMATED TODAY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0" y="1463040"/>
            <a:ext cx="35661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5727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5,000–10,000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458200" y="2121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IN OUR ADDRESSABLE MARKET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2880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leaking out of the market every year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~300L shrinkage per station/month, blended pump price ~KES 215/L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566160"/>
            <a:ext cx="10908792" cy="384048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661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/ year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35661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/ year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61120" y="35661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/ 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50208"/>
            <a:ext cx="1090879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02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station / year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3950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$5,981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9502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€5,126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120" y="395020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774,000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544568"/>
            <a:ext cx="1090879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5445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stations (low end)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0" y="45445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$29.9M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09360" y="454456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€25.6M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961120" y="454456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3.87B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" y="5138928"/>
            <a:ext cx="10908792" cy="594360"/>
          </a:xfrm>
          <a:prstGeom prst="rect">
            <a:avLst/>
          </a:prstGeom>
          <a:solidFill>
            <a:srgbClr val="FDECE2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138928"/>
            <a:ext cx="3017520" cy="59436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stations (high end)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1389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$59.8M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513892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€51.3M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961120" y="5138928"/>
            <a:ext cx="2587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7.74B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91616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size of the reconciliation problem sitting on Kenyan forecourts right now — before a single unit of transaction, hardware or insurance revenue.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revenue lines, one unavoidable value prop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87752" cy="1737360"/>
          </a:xfrm>
          <a:prstGeom prst="roundRect">
            <a:avLst>
              <a:gd name="adj" fmla="val 4211"/>
            </a:avLst>
          </a:prstGeom>
          <a:solidFill>
            <a:srgbClr val="0F345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7335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$193 – $232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€166 – €199 · KES 25,000–30,000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station, per month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587752" cy="1737360"/>
          </a:xfrm>
          <a:prstGeom prst="roundRect">
            <a:avLst>
              <a:gd name="adj" fmla="val 4211"/>
            </a:avLst>
          </a:prstGeom>
          <a:solidFill>
            <a:srgbClr val="0F3454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67335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 processed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2587752" cy="1737360"/>
          </a:xfrm>
          <a:prstGeom prst="roundRect">
            <a:avLst>
              <a:gd name="adj" fmla="val 4211"/>
            </a:avLst>
          </a:prstGeom>
          <a:solidFill>
            <a:srgbClr val="0F345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67335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Device + install margin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maintenance revenue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06840" y="1508760"/>
            <a:ext cx="2587752" cy="1737360"/>
          </a:xfrm>
          <a:prstGeom prst="roundRect">
            <a:avLst>
              <a:gd name="adj" fmla="val 4211"/>
            </a:avLst>
          </a:prstGeom>
          <a:solidFill>
            <a:srgbClr val="0F3454"/>
          </a:solidFill>
          <a:ln/>
        </p:spPr>
      </p:sp>
      <p:sp>
        <p:nvSpPr>
          <p:cNvPr id="18" name="Text 16"/>
          <p:cNvSpPr/>
          <p:nvPr/>
        </p:nvSpPr>
        <p:spPr>
          <a:xfrm>
            <a:off x="9189720" y="167335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COMMISSIONS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89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Referral commission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89720" y="28712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station &amp; fuel-in-transit cover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F2661F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ECONOMICS, PER STATION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$4,640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0120" y="4507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€3,970 · KES 600K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6012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+ SETUP INVESTMENT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12 months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8056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PAYBACK PERIOD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0100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$5,981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001000" y="45079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€5,126 · KES 774K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01000" y="4782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SHRINKAGE RECOVERABLE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revenue alone scales to ~$12.7M–$25.5M (≈ €10.9M–€21.9M · KES 1.65B–3.3B) ARR across the 5,000–10,000-station addressable market — before transaction, hardware, or insurance upside.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stations live in 120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stations exist. The demand exists. The constraint isn't the market — it's devices and operating capital to fit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86000"/>
            <a:ext cx="3502152" cy="457200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8529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&amp; Queue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2186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ordered (ATG probes, flow meters, POS); install queue and onboarding sequence locked with first-wave stations.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286000"/>
            <a:ext cx="3502152" cy="457200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31–90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28529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Onboarding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26280" y="32186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10 stations per month brought live — install, staff training, shift reconciliation switched 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0215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2286000"/>
            <a:ext cx="3502152" cy="457200"/>
          </a:xfrm>
          <a:prstGeom prst="rect">
            <a:avLst/>
          </a:prstGeom>
          <a:solidFill>
            <a:srgbClr val="0B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28600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91–120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229600" y="2852928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&amp; Package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3218688"/>
            <a:ext cx="3136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stations reconciling live; loss-recovery case studies packaged to fuel the next 70-station wave.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10908792" cy="1691640"/>
          </a:xfrm>
          <a:prstGeom prst="roundRect">
            <a:avLst>
              <a:gd name="adj" fmla="val 4324"/>
            </a:avLst>
          </a:prstGeom>
          <a:solidFill>
            <a:srgbClr val="0B2A4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78231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1005840" y="5486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OWNERS ON THE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spc="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WAITLIST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4754880"/>
            <a:ext cx="0" cy="123444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846320"/>
            <a:ext cx="7251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Kenya's downstream fuel market is large and ready, but fragmented — 12,000+ stations, fewer than 1,000 automated. Owners are already asking to get on; the rollout is capital- and hardware-constrained, not demand-constrained.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stations, and a waitlist ready to move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TO 100 STATIONS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120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920240" y="19202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waitlist — station owners already introduced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4352544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52928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920240" y="2852928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onboarded in the first 120 days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3785616"/>
            <a:ext cx="3584448" cy="777240"/>
          </a:xfrm>
          <a:prstGeom prst="roundRect">
            <a:avLst>
              <a:gd name="adj" fmla="val 7059"/>
            </a:avLst>
          </a:prstGeom>
          <a:solidFill>
            <a:srgbClr val="F2661F"/>
          </a:solidFill>
          <a:ln w="12700">
            <a:solidFill>
              <a:srgbClr val="F266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85616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20240" y="3785616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targeted for Year One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5422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993392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920240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validated platform today — not a concept pitch to a first customer.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706624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633472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 eTIMS fiscalization is built in, not bolted on — compliance is the hook, not an afterthought.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419856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346704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Hardware-plus-financing bundle removes the upfront capital barrier that keeps stations manual.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4133088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59936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Founder-level conviction: Summit Surds is co-investing its own capital and technical team alongside any outside raise.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4846320"/>
            <a:ext cx="128016" cy="128016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773168"/>
            <a:ext cx="5148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embassy-programme technical review — third-party diligence already underway on the same model.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Kenya. Already wanted across Africa.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fragmentation Octane Obit solves isn't a Kenya problem — it's a downstream-fuel-retail problem. Inbound interest from outside Kenya is already validating that.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0B2A4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957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MARKET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651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12,000+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2743200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stations nationally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&lt;1,000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743200" y="403250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automated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5840" y="46268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743200" y="46542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today at a pilot merchant station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91072" y="2103120"/>
            <a:ext cx="52578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38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56832" y="239572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MARKET — INBOUND DEMAND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56832" y="2651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Zambia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656832" y="3383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600+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54112" y="341071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filling stations nationally, up from ~250 in 2012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56832" y="4160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754112" y="41879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already expressing interest — unprompted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56832" y="5010912"/>
            <a:ext cx="4526280" cy="0"/>
          </a:xfrm>
          <a:prstGeom prst="line">
            <a:avLst/>
          </a:prstGeom>
          <a:noFill/>
          <a:ln w="12700">
            <a:solidFill>
              <a:srgbClr val="E4E9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56832" y="51663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Early-stage conversations — not yet contracted. Included as a genuine demand signal, not a booked pipeline.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58521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Obit's multi-company, multi-branch, multi-station architecture was built for exactly this — regional rollout without a redesign. Zambia is the next proof point, not a new build.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concept. A team, a platform, and skin in the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F345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at a pilot merchant station — real-time reconciliation, not a lab demo.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F3454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Since 2021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lineage traces to Josprix Solutions Limited, now built and commercialized under Summit Surds Limited.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F345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206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 89.6M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(~$515K) of Summit Surds' own cash and in-kind capital committed alongside this raise.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0F345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4206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diligence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4800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is under technical and commercial review for a Netherlands Embassy Business Climate Programme grant.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tranches: get live, then get sustainable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0B2A4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 — IMPLEMENTATION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 – $1M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26974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€429K – €857K  ·  KES 64.7M – 129.4M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60120" y="3154680"/>
            <a:ext cx="4617720" cy="0"/>
          </a:xfrm>
          <a:prstGeom prst="line">
            <a:avLst/>
          </a:prstGeom>
          <a:noFill/>
          <a:ln w="12700">
            <a:solidFill>
              <a:srgbClr val="1E3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375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onboarding and working capital to get the first wave of stations live and reconciling — the 30-stations-in-120-days rollout.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0120" y="416052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440740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12 months per station — recovered shrinkage plus subscription revenue.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46304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F2661F"/>
          </a:solidFill>
          <a:ln/>
        </p:spPr>
      </p:sp>
      <p:sp>
        <p:nvSpPr>
          <p:cNvPr id="13" name="Text 11"/>
          <p:cNvSpPr/>
          <p:nvPr/>
        </p:nvSpPr>
        <p:spPr>
          <a:xfrm>
            <a:off x="6611112" y="17373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8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— LENDING MODULE, SUSTAINABILITY &amp; DEVELOPMENT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11112" y="22402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 – $5M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11112" y="29260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E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€857K – €4.29M  ·  KES 129.4M – 647M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1112" y="3337560"/>
            <a:ext cx="4617720" cy="0"/>
          </a:xfrm>
          <a:prstGeom prst="line">
            <a:avLst/>
          </a:prstGeom>
          <a:noFill/>
          <a:ln w="12700">
            <a:solidFill>
              <a:srgbClr val="FFC9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1112" y="347472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Capitalizes Octane Obit's hardware-financing Lending Module — so stations get devices without upfront capital — plus platform development and long-term sustainability beyond the initial rollout, including regional expansion.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21208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9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3766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5650992"/>
            <a:ext cx="10268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3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stations live in 120 days → proof at scale → 100-station Year One target → Lending Module capitalized for regional rollout, starting with Zambia.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C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NOW, 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window is open, and we're already inside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 market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965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12,000+ stations, under 1,000 automated — no incumbent has won this category yet.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532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898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 eTIMS fiscalization is now a compliance requirement — Octane Obit ships it built-in.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4655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promised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31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live at a merchant station today, generating real reconciliation data.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457200" cy="457200"/>
          </a:xfrm>
          <a:prstGeom prst="ellipse">
            <a:avLst/>
          </a:prstGeom>
          <a:solidFill>
            <a:srgbClr val="F2661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43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3982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Founder-backed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764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Summit Surds is committing its own capital and technical team, not just asking for someone else's.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0B2A45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4754880" cy="4754880"/>
          </a:xfrm>
          <a:prstGeom prst="ellipse">
            <a:avLst/>
          </a:prstGeom>
          <a:solidFill>
            <a:srgbClr val="0F34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stations. 120 days.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reconciliation problem off the table.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— a Summit Surds Limited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OCTANE OBIT  |  SUMMIT SURDS LIMITED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2026-08-25T06:17:26Z</dcterms:created>
  <dcterms:modified xsi:type="dcterms:W3CDTF">2026-08-25T06:17:26Z</dcterms:modified>
</cp:coreProperties>
</file>